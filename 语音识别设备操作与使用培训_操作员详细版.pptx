
<file path=[Content_Types].xml><?xml version="1.0" encoding="utf-8"?>
<ns0:Types xmlns:ns0="http://schemas.openxmlformats.org/package/2006/content-types">
  <ns0:Default Extension="xml" ContentType="application/xml"/>
  <ns0:Default Extension="png" ContentType="image/png"/>
  <ns0:Default Extension="jpeg" ContentType="image/jpeg"/>
  <ns0:Default Extension="JPG" ContentType="image/.jpg"/>
  <ns0:Default Extension="rels" ContentType="application/vnd.openxmlformats-package.relationships+xml"/>
  <ns0:Override PartName="/customXml/itemProps13.xml" ContentType="application/vnd.openxmlformats-officedocument.customXmlProperties+xml"/>
  <ns0:Override PartName="/customXml/itemProps14.xml" ContentType="application/vnd.openxmlformats-officedocument.customXmlProperties+xml"/>
  <ns0:Override PartName="/customXml/itemProps15.xml" ContentType="application/vnd.openxmlformats-officedocument.customXmlProperties+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20.xml" ContentType="application/vnd.openxmlformats-officedocument.presentationml.notesSlide+xml"/>
  <ns0:Override PartName="/ppt/notesSlides/notesSlide21.xml" ContentType="application/vnd.openxmlformats-officedocument.presentationml.notesSlide+xml"/>
  <ns0:Override PartName="/ppt/notesSlides/notesSlide22.xml" ContentType="application/vnd.openxmlformats-officedocument.presentationml.notesSlide+xml"/>
  <ns0:Override PartName="/ppt/notesSlides/notesSlide23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2.xml" ContentType="application/vnd.openxmlformats-officedocument.presentationml.tags+xml"/>
  <ns0:Override PartName="/ppt/tags/tag3.xml" ContentType="application/vnd.openxmlformats-officedocument.presentationml.tags+xml"/>
  <ns0:Override PartName="/ppt/tags/tag4.xml" ContentType="application/vnd.openxmlformats-officedocument.presentationml.tags+xml"/>
  <ns0:Override PartName="/ppt/tags/tag5.xml" ContentType="application/vnd.openxmlformats-officedocument.presentationml.tags+xml"/>
  <ns0:Override PartName="/ppt/tags/tag6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theme/themeOverride1.xml" ContentType="application/vnd.openxmlformats-officedocument.themeOverride+xml"/>
  <ns0:Override PartName="/ppt/theme/themeOverride2.xml" ContentType="application/vnd.openxmlformats-officedocument.themeOverride+xml"/>
  <ns0:Override PartName="/ppt/viewProps.xml" ContentType="application/vnd.openxmlformats-officedocument.presentationml.viewProps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>
  <p:sldMasterIdLst>
    <p:sldMasterId id="2147483648" r:id="rId1"/>
    <p:sldMasterId id="2147483662" r:id="rId3"/>
  </p:sldMasterIdLst>
  <p:notesMasterIdLst>
    <p:notesMasterId r:id="rId5"/>
  </p:notesMasterIdLst>
  <p:sldIdLst>
    <p:sldId id="472" r:id="rId4"/>
    <p:sldId id="1137" r:id="rId6"/>
    <p:sldId id="1175" r:id="rId7"/>
    <p:sldId id="496" r:id="rId8"/>
    <p:sldId id="1176" r:id="rId9"/>
    <p:sldId id="1177" r:id="rId10"/>
    <p:sldId id="1178" r:id="rId11"/>
    <p:sldId id="1106" r:id="rId12"/>
    <p:sldId id="1180" r:id="rId13"/>
    <p:sldId id="1182" r:id="rId14"/>
    <p:sldId id="1179" r:id="rId15"/>
    <p:sldId id="1181" r:id="rId16"/>
    <p:sldId id="1183" r:id="rId17"/>
    <p:sldId id="1184" r:id="rId18"/>
    <p:sldId id="1185" r:id="rId19"/>
    <p:sldId id="1186" r:id="rId20"/>
    <p:sldId id="1171" r:id="rId21"/>
    <p:sldId id="1187" r:id="rId22"/>
    <p:sldId id="1172" r:id="rId23"/>
    <p:sldId id="1188" r:id="rId24"/>
    <p:sldId id="1189" r:id="rId25"/>
    <p:sldId id="1170" r:id="rId26"/>
    <p:sldId id="1136" r:id="rId27"/>
    <p:sldId id="484" r:id="rId28"/>
    <p:sldId id="1190" r:id="rId35"/>
    <p:sldId id="1191" r:id="rId36"/>
    <p:sldId id="1192" r:id="rId37"/>
    <p:sldId id="1193" r:id="rId38"/>
    <p:sldId id="1194" r:id="rId39"/>
    <p:sldId id="1195" r:id="rId40"/>
    <p:sldId id="1196" r:id="rId41"/>
    <p:sldId id="1197" r:id="rId42"/>
    <p:sldId id="1198" r:id="rId43"/>
    <p:sldId id="1199" r:id="rId44"/>
    <p:sldId id="1200" r:id="rId45"/>
    <p:sldId id="1201" r:id="rId46"/>
    <p:sldId id="1202" r:id="rId47"/>
    <p:sldId id="1203" r:id="rId4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1633" userDrawn="1">
          <ns3:clr>
            <a:srgbClr val="A4A3A4"/>
          </ns3:clr>
        </ns3:guide>
        <ns3:guide id="2" pos="286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7B8"/>
    <a:srgbClr val="7F7F7F"/>
    <a:srgbClr val="166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4" autoAdjust="0"/>
    <p:restoredTop sz="85242" autoAdjust="0"/>
  </p:normalViewPr>
  <p:slideViewPr>
    <p:cSldViewPr snapToGrid="0" snapToObjects="1" showGuides="1">
      <p:cViewPr varScale="1">
        <p:scale>
          <a:sx n="125" d="100"/>
          <a:sy n="125" d="100"/>
        </p:scale>
        <p:origin x="544" y="60"/>
      </p:cViewPr>
      <p:guideLst>
        <p:guide orient="horz" pos="1633"/>
        <p:guide pos="28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slide" Target="slides/slide5.xml" /><ns0:Relationship Id="rId8" Type="http://schemas.openxmlformats.org/officeDocument/2006/relationships/slide" Target="slides/slide4.xml" /><ns0:Relationship Id="rId7" Type="http://schemas.openxmlformats.org/officeDocument/2006/relationships/slide" Target="slides/slide3.xml" /><ns0:Relationship Id="rId6" Type="http://schemas.openxmlformats.org/officeDocument/2006/relationships/slide" Target="slides/slide2.xml" /><ns0:Relationship Id="rId5" Type="http://schemas.openxmlformats.org/officeDocument/2006/relationships/notesMaster" Target="notesMasters/notesMaster1.xml" /><ns0:Relationship Id="rId4" Type="http://schemas.openxmlformats.org/officeDocument/2006/relationships/slide" Target="slides/slide1.xml" /><ns0:Relationship Id="rId34" Type="http://schemas.openxmlformats.org/officeDocument/2006/relationships/customXml" Target="../customXml/item3.xml" /><ns0:Relationship Id="rId33" Type="http://schemas.openxmlformats.org/officeDocument/2006/relationships/customXml" Target="../customXml/item2.xml" /><ns0:Relationship Id="rId32" Type="http://schemas.openxmlformats.org/officeDocument/2006/relationships/customXml" Target="../customXml/item1.xml" /><ns0:Relationship Id="rId31" Type="http://schemas.openxmlformats.org/officeDocument/2006/relationships/tableStyles" Target="tableStyles.xml" /><ns0:Relationship Id="rId30" Type="http://schemas.openxmlformats.org/officeDocument/2006/relationships/viewProps" Target="viewProps.xml" /><ns0:Relationship Id="rId3" Type="http://schemas.openxmlformats.org/officeDocument/2006/relationships/slideMaster" Target="slideMasters/slideMaster2.xml" /><ns0:Relationship Id="rId29" Type="http://schemas.openxmlformats.org/officeDocument/2006/relationships/presProps" Target="presProps.xml" /><ns0:Relationship Id="rId28" Type="http://schemas.openxmlformats.org/officeDocument/2006/relationships/slide" Target="slides/slide24.xml" /><ns0:Relationship Id="rId27" Type="http://schemas.openxmlformats.org/officeDocument/2006/relationships/slide" Target="slides/slide23.xml" /><ns0:Relationship Id="rId26" Type="http://schemas.openxmlformats.org/officeDocument/2006/relationships/slide" Target="slides/slide22.xml" /><ns0:Relationship Id="rId25" Type="http://schemas.openxmlformats.org/officeDocument/2006/relationships/slide" Target="slides/slide21.xml" /><ns0:Relationship Id="rId24" Type="http://schemas.openxmlformats.org/officeDocument/2006/relationships/slide" Target="slides/slide20.xml" /><ns0:Relationship Id="rId23" Type="http://schemas.openxmlformats.org/officeDocument/2006/relationships/slide" Target="slides/slide19.xml" /><ns0:Relationship Id="rId22" Type="http://schemas.openxmlformats.org/officeDocument/2006/relationships/slide" Target="slides/slide18.xml" /><ns0:Relationship Id="rId21" Type="http://schemas.openxmlformats.org/officeDocument/2006/relationships/slide" Target="slides/slide17.xml" /><ns0:Relationship Id="rId20" Type="http://schemas.openxmlformats.org/officeDocument/2006/relationships/slide" Target="slides/slide16.xml" /><ns0:Relationship Id="rId2" Type="http://schemas.openxmlformats.org/officeDocument/2006/relationships/theme" Target="theme/theme1.xml" /><ns0:Relationship Id="rId19" Type="http://schemas.openxmlformats.org/officeDocument/2006/relationships/slide" Target="slides/slide15.xml" /><ns0:Relationship Id="rId18" Type="http://schemas.openxmlformats.org/officeDocument/2006/relationships/slide" Target="slides/slide14.xml" /><ns0:Relationship Id="rId17" Type="http://schemas.openxmlformats.org/officeDocument/2006/relationships/slide" Target="slides/slide13.xml" /><ns0:Relationship Id="rId16" Type="http://schemas.openxmlformats.org/officeDocument/2006/relationships/slide" Target="slides/slide12.xml" /><ns0:Relationship Id="rId15" Type="http://schemas.openxmlformats.org/officeDocument/2006/relationships/slide" Target="slides/slide11.xml" /><ns0:Relationship Id="rId14" Type="http://schemas.openxmlformats.org/officeDocument/2006/relationships/slide" Target="slides/slide10.xml" /><ns0:Relationship Id="rId13" Type="http://schemas.openxmlformats.org/officeDocument/2006/relationships/slide" Target="slides/slide9.xml" /><ns0:Relationship Id="rId12" Type="http://schemas.openxmlformats.org/officeDocument/2006/relationships/slide" Target="slides/slide8.xml" /><ns0:Relationship Id="rId11" Type="http://schemas.openxmlformats.org/officeDocument/2006/relationships/slide" Target="slides/slide7.xml" /><ns0:Relationship Id="rId10" Type="http://schemas.openxmlformats.org/officeDocument/2006/relationships/slide" Target="slides/slide6.xml" /><ns0:Relationship Id="rId1" Type="http://schemas.openxmlformats.org/officeDocument/2006/relationships/slideMaster" Target="slideMasters/slideMaster1.xml" /><ns0:Relationship Id="rId35" Type="http://schemas.openxmlformats.org/officeDocument/2006/relationships/slide" Target="slides/slide25.xml" /><ns0:Relationship Id="rId36" Type="http://schemas.openxmlformats.org/officeDocument/2006/relationships/slide" Target="slides/slide26.xml" /><ns0:Relationship Id="rId37" Type="http://schemas.openxmlformats.org/officeDocument/2006/relationships/slide" Target="slides/slide27.xml" /><ns0:Relationship Id="rId38" Type="http://schemas.openxmlformats.org/officeDocument/2006/relationships/slide" Target="slides/slide28.xml" /><ns0:Relationship Id="rId39" Type="http://schemas.openxmlformats.org/officeDocument/2006/relationships/slide" Target="slides/slide29.xml" /><ns0:Relationship Id="rId40" Type="http://schemas.openxmlformats.org/officeDocument/2006/relationships/slide" Target="slides/slide30.xml" /><ns0:Relationship Id="rId41" Type="http://schemas.openxmlformats.org/officeDocument/2006/relationships/slide" Target="slides/slide31.xml" /><ns0:Relationship Id="rId42" Type="http://schemas.openxmlformats.org/officeDocument/2006/relationships/slide" Target="slides/slide32.xml" /><ns0:Relationship Id="rId43" Type="http://schemas.openxmlformats.org/officeDocument/2006/relationships/slide" Target="slides/slide33.xml" /><ns0:Relationship Id="rId44" Type="http://schemas.openxmlformats.org/officeDocument/2006/relationships/slide" Target="slides/slide34.xml" /><ns0:Relationship Id="rId45" Type="http://schemas.openxmlformats.org/officeDocument/2006/relationships/slide" Target="slides/slide35.xml" /><ns0:Relationship Id="rId46" Type="http://schemas.openxmlformats.org/officeDocument/2006/relationships/slide" Target="slides/slide36.xml" /><ns0:Relationship Id="rId47" Type="http://schemas.openxmlformats.org/officeDocument/2006/relationships/slide" Target="slides/slide37.xml" /><ns0:Relationship Id="rId48" Type="http://schemas.openxmlformats.org/officeDocument/2006/relationships/slide" Target="slides/slide38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77482-AAB8-43C1-8407-22C46EE7F8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FBB7B-6DAE-4DE6-A474-51B2AB599B0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FBB7B-6DAE-4DE6-A474-51B2AB599B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D254588-7818-F940-80BD-4461D37EA96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B3CC-F982-40F9-8DD6-BCC9AFBF44B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B99-7C3F-4BC3-B7B8-7E1F8C620B2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91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任意多边形 2"/>
          <p:cNvSpPr/>
          <p:nvPr userDrawn="1"/>
        </p:nvSpPr>
        <p:spPr>
          <a:xfrm>
            <a:off x="15229" y="2"/>
            <a:ext cx="7924801" cy="5143499"/>
          </a:xfrm>
          <a:custGeom>
            <a:avLst/>
            <a:gdLst>
              <a:gd name="connsiteX0" fmla="*/ 0 w 12192000"/>
              <a:gd name="connsiteY0" fmla="*/ 0 h 6857999"/>
              <a:gd name="connsiteX1" fmla="*/ 2078821 w 12192000"/>
              <a:gd name="connsiteY1" fmla="*/ 0 h 6857999"/>
              <a:gd name="connsiteX2" fmla="*/ 12192000 w 12192000"/>
              <a:gd name="connsiteY2" fmla="*/ 6857999 h 6857999"/>
              <a:gd name="connsiteX3" fmla="*/ 0 w 1219200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2078821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gradFill flip="none" rotWithShape="1">
            <a:gsLst>
              <a:gs pos="11000">
                <a:srgbClr val="F6FBEF">
                  <a:alpha val="0"/>
                </a:srgbClr>
              </a:gs>
              <a:gs pos="100000">
                <a:schemeClr val="bg1">
                  <a:alpha val="13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539354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六边形 4"/>
          <p:cNvSpPr/>
          <p:nvPr userDrawn="1"/>
        </p:nvSpPr>
        <p:spPr>
          <a:xfrm>
            <a:off x="8180785" y="1035844"/>
            <a:ext cx="419100" cy="361950"/>
          </a:xfrm>
          <a:prstGeom prst="hexagon">
            <a:avLst/>
          </a:prstGeom>
          <a:solidFill>
            <a:schemeClr val="bg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6" name="六边形 5"/>
          <p:cNvSpPr/>
          <p:nvPr userDrawn="1"/>
        </p:nvSpPr>
        <p:spPr>
          <a:xfrm>
            <a:off x="8018860" y="3494485"/>
            <a:ext cx="796528" cy="686990"/>
          </a:xfrm>
          <a:prstGeom prst="hexagon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7" name="六边形 6"/>
          <p:cNvSpPr/>
          <p:nvPr userDrawn="1"/>
        </p:nvSpPr>
        <p:spPr>
          <a:xfrm>
            <a:off x="925116" y="2095501"/>
            <a:ext cx="1023938" cy="882254"/>
          </a:xfrm>
          <a:prstGeom prst="hexagon">
            <a:avLst/>
          </a:prstGeom>
          <a:solidFill>
            <a:schemeClr val="bg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8" name="六边形 7"/>
          <p:cNvSpPr/>
          <p:nvPr userDrawn="1"/>
        </p:nvSpPr>
        <p:spPr>
          <a:xfrm>
            <a:off x="2484837" y="2139555"/>
            <a:ext cx="1128713" cy="972740"/>
          </a:xfrm>
          <a:prstGeom prst="hexagon">
            <a:avLst/>
          </a:prstGeom>
          <a:solidFill>
            <a:schemeClr val="bg1"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9" name="椭圆 8"/>
          <p:cNvSpPr/>
          <p:nvPr userDrawn="1"/>
        </p:nvSpPr>
        <p:spPr>
          <a:xfrm>
            <a:off x="971155" y="1860224"/>
            <a:ext cx="1057961" cy="1057961"/>
          </a:xfrm>
          <a:prstGeom prst="ellipse">
            <a:avLst/>
          </a:prstGeom>
          <a:solidFill>
            <a:schemeClr val="bg1">
              <a:alpha val="19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0" name="椭圆 9"/>
          <p:cNvSpPr/>
          <p:nvPr userDrawn="1"/>
        </p:nvSpPr>
        <p:spPr>
          <a:xfrm>
            <a:off x="3977630" y="1075200"/>
            <a:ext cx="939521" cy="939521"/>
          </a:xfrm>
          <a:prstGeom prst="ellipse">
            <a:avLst/>
          </a:prstGeom>
          <a:solidFill>
            <a:schemeClr val="bg1">
              <a:alpha val="39000"/>
            </a:schemeClr>
          </a:solidFill>
          <a:ln>
            <a:noFill/>
          </a:ln>
          <a:effectLst>
            <a:softEdge rad="368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1" name="椭圆 10"/>
          <p:cNvSpPr/>
          <p:nvPr userDrawn="1"/>
        </p:nvSpPr>
        <p:spPr>
          <a:xfrm>
            <a:off x="5728523" y="1326823"/>
            <a:ext cx="533400" cy="533400"/>
          </a:xfrm>
          <a:prstGeom prst="ellipse">
            <a:avLst/>
          </a:prstGeom>
          <a:solidFill>
            <a:schemeClr val="bg1">
              <a:alpha val="55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2" name="椭圆 11"/>
          <p:cNvSpPr/>
          <p:nvPr userDrawn="1"/>
        </p:nvSpPr>
        <p:spPr>
          <a:xfrm>
            <a:off x="4799554" y="2981737"/>
            <a:ext cx="1058547" cy="1058547"/>
          </a:xfrm>
          <a:prstGeom prst="ellipse">
            <a:avLst/>
          </a:prstGeom>
          <a:solidFill>
            <a:schemeClr val="bg1">
              <a:alpha val="23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3" name="椭圆 12"/>
          <p:cNvSpPr/>
          <p:nvPr userDrawn="1"/>
        </p:nvSpPr>
        <p:spPr>
          <a:xfrm>
            <a:off x="7802163" y="2977610"/>
            <a:ext cx="533400" cy="5334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4" name="椭圆 13"/>
          <p:cNvSpPr/>
          <p:nvPr userDrawn="1"/>
        </p:nvSpPr>
        <p:spPr>
          <a:xfrm>
            <a:off x="1794473" y="2487823"/>
            <a:ext cx="1249412" cy="1249412"/>
          </a:xfrm>
          <a:prstGeom prst="ellipse">
            <a:avLst/>
          </a:prstGeom>
          <a:solidFill>
            <a:schemeClr val="bg1">
              <a:alpha val="11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5" name="椭圆 14"/>
          <p:cNvSpPr/>
          <p:nvPr userDrawn="1"/>
        </p:nvSpPr>
        <p:spPr>
          <a:xfrm>
            <a:off x="5257778" y="3458282"/>
            <a:ext cx="621539" cy="621539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" t="8079" r="5977" b="8528"/>
          <a:stretch>
            <a:fillRect/>
          </a:stretch>
        </p:blipFill>
        <p:spPr>
          <a:xfrm>
            <a:off x="7366047" y="47314"/>
            <a:ext cx="1636089" cy="452633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sp>
        <p:nvSpPr>
          <p:cNvPr id="17" name="矩形 16"/>
          <p:cNvSpPr/>
          <p:nvPr userDrawn="1"/>
        </p:nvSpPr>
        <p:spPr>
          <a:xfrm>
            <a:off x="0" y="4752976"/>
            <a:ext cx="9144000" cy="390525"/>
          </a:xfrm>
          <a:prstGeom prst="rect">
            <a:avLst/>
          </a:prstGeom>
          <a:solidFill>
            <a:srgbClr val="00206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-52388" y="4752975"/>
            <a:ext cx="91963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任意多边形 18"/>
          <p:cNvSpPr/>
          <p:nvPr userDrawn="1"/>
        </p:nvSpPr>
        <p:spPr>
          <a:xfrm>
            <a:off x="4301729" y="4872038"/>
            <a:ext cx="540544" cy="277416"/>
          </a:xfrm>
          <a:custGeom>
            <a:avLst/>
            <a:gdLst>
              <a:gd name="connsiteX0" fmla="*/ 388866 w 777732"/>
              <a:gd name="connsiteY0" fmla="*/ 0 h 400413"/>
              <a:gd name="connsiteX1" fmla="*/ 777732 w 777732"/>
              <a:gd name="connsiteY1" fmla="*/ 388866 h 400413"/>
              <a:gd name="connsiteX2" fmla="*/ 776568 w 777732"/>
              <a:gd name="connsiteY2" fmla="*/ 400413 h 400413"/>
              <a:gd name="connsiteX3" fmla="*/ 1164 w 777732"/>
              <a:gd name="connsiteY3" fmla="*/ 400413 h 400413"/>
              <a:gd name="connsiteX4" fmla="*/ 0 w 777732"/>
              <a:gd name="connsiteY4" fmla="*/ 388866 h 400413"/>
              <a:gd name="connsiteX5" fmla="*/ 388866 w 777732"/>
              <a:gd name="connsiteY5" fmla="*/ 0 h 400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732" h="400413">
                <a:moveTo>
                  <a:pt x="388866" y="0"/>
                </a:moveTo>
                <a:cubicBezTo>
                  <a:pt x="603631" y="0"/>
                  <a:pt x="777732" y="174101"/>
                  <a:pt x="777732" y="388866"/>
                </a:cubicBezTo>
                <a:lnTo>
                  <a:pt x="776568" y="400413"/>
                </a:lnTo>
                <a:lnTo>
                  <a:pt x="1164" y="400413"/>
                </a:lnTo>
                <a:lnTo>
                  <a:pt x="0" y="388866"/>
                </a:lnTo>
                <a:cubicBezTo>
                  <a:pt x="0" y="174101"/>
                  <a:pt x="174101" y="0"/>
                  <a:pt x="388866" y="0"/>
                </a:cubicBezTo>
                <a:close/>
              </a:path>
            </a:pathLst>
          </a:cu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0" name="圆角矩形 19"/>
          <p:cNvSpPr/>
          <p:nvPr userDrawn="1"/>
        </p:nvSpPr>
        <p:spPr>
          <a:xfrm>
            <a:off x="135731" y="635795"/>
            <a:ext cx="8872538" cy="4027885"/>
          </a:xfrm>
          <a:prstGeom prst="roundRect">
            <a:avLst>
              <a:gd name="adj" fmla="val 3811"/>
            </a:avLst>
          </a:prstGeom>
          <a:solidFill>
            <a:schemeClr val="bg1">
              <a:alpha val="51000"/>
            </a:schemeClr>
          </a:solidFill>
          <a:ln>
            <a:solidFill>
              <a:schemeClr val="bg1">
                <a:alpha val="6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  <p:transition advTm="20967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7460378" y="4848447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727D3B-1B81-5549-9B2F-B47ED2EA5FA0}" type="slidenum">
              <a:rPr kumimoji="1" lang="en-US" altLang="zh-CN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2560D-EC28-3B41-86E8-18F1CE0113B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4829908"/>
            <a:ext cx="9144000" cy="313592"/>
          </a:xfrm>
          <a:prstGeom prst="rect">
            <a:avLst/>
          </a:prstGeom>
          <a:solidFill>
            <a:srgbClr val="2E67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rgbClr val="0066FB"/>
              </a:solidFill>
            </a:endParaRPr>
          </a:p>
        </p:txBody>
      </p:sp>
      <p:cxnSp>
        <p:nvCxnSpPr>
          <p:cNvPr id="12" name="直线连接符 11"/>
          <p:cNvCxnSpPr/>
          <p:nvPr userDrawn="1"/>
        </p:nvCxnSpPr>
        <p:spPr>
          <a:xfrm>
            <a:off x="81003" y="540000"/>
            <a:ext cx="899099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7460378" y="4848447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727D3B-1B81-5549-9B2F-B47ED2EA5FA0}" type="slidenum">
              <a:rPr kumimoji="1" lang="en-US" altLang="zh-CN" smtClean="0"/>
            </a:fld>
            <a:endParaRPr kumimoji="1"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6381" y="55045"/>
            <a:ext cx="1465621" cy="4470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.xml" /><ns0:Relationship Id="rId2" Type="http://schemas.openxmlformats.org/officeDocument/2006/relationships/image" Target="../media/image5.png" /><ns0:Relationship Id="rId1" Type="http://schemas.openxmlformats.org/officeDocument/2006/relationships/image" Target="../media/image4.jpeg" /></ns0:Relationships>
</file>

<file path=ppt/slides/_rels/slide2.xml.rels><?xml version='1.0' encoding='utf-8'?>
<ns0:Relationships xmlns:ns0="http://schemas.openxmlformats.org/package/2006/relationships"><ns0:Relationship Id="rId9" Type="http://schemas.openxmlformats.org/officeDocument/2006/relationships/tags" Target="../tags/tag7.xml" /><ns0:Relationship Id="rId8" Type="http://schemas.openxmlformats.org/officeDocument/2006/relationships/tags" Target="../tags/tag6.xml" /><ns0:Relationship Id="rId7" Type="http://schemas.openxmlformats.org/officeDocument/2006/relationships/tags" Target="../tags/tag5.xml" /><ns0:Relationship Id="rId6" Type="http://schemas.openxmlformats.org/officeDocument/2006/relationships/tags" Target="../tags/tag4.xml" /><ns0:Relationship Id="rId5" Type="http://schemas.openxmlformats.org/officeDocument/2006/relationships/tags" Target="../tags/tag3.xml" /><ns0:Relationship Id="rId4" Type="http://schemas.openxmlformats.org/officeDocument/2006/relationships/tags" Target="../tags/tag2.xml" /><ns0:Relationship Id="rId3" Type="http://schemas.openxmlformats.org/officeDocument/2006/relationships/tags" Target="../tags/tag1.xml" /><ns0:Relationship Id="rId2" Type="http://schemas.openxmlformats.org/officeDocument/2006/relationships/image" Target="../media/image5.png" /><ns0:Relationship Id="rId15" Type="http://schemas.openxmlformats.org/officeDocument/2006/relationships/slideLayout" Target="../slideLayouts/slideLayout13.xml" /><ns0:Relationship Id="rId14" Type="http://schemas.openxmlformats.org/officeDocument/2006/relationships/tags" Target="../tags/tag12.xml" /><ns0:Relationship Id="rId13" Type="http://schemas.openxmlformats.org/officeDocument/2006/relationships/tags" Target="../tags/tag11.xml" /><ns0:Relationship Id="rId12" Type="http://schemas.openxmlformats.org/officeDocument/2006/relationships/tags" Target="../tags/tag10.xml" /><ns0:Relationship Id="rId11" Type="http://schemas.openxmlformats.org/officeDocument/2006/relationships/tags" Target="../tags/tag9.xml" /><ns0:Relationship Id="rId10" Type="http://schemas.openxmlformats.org/officeDocument/2006/relationships/tags" Target="../tags/tag8.xml" /><ns0:Relationship Id="rId1" Type="http://schemas.openxmlformats.org/officeDocument/2006/relationships/image" Target="../media/image6.jpeg" /></ns0:Relationships>
</file>

<file path=ppt/slides/_rels/slide3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3.xml" /><ns0:Relationship Id="rId2" Type="http://schemas.openxmlformats.org/officeDocument/2006/relationships/image" Target="../media/image5.png" /><ns0:Relationship Id="rId1" Type="http://schemas.openxmlformats.org/officeDocument/2006/relationships/image" Target="../media/image6.jpeg" /></ns0:Relationships>
</file>

<file path=ppt/slides/_rels/slide4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4.xml" /><ns0:Relationship Id="rId2" Type="http://schemas.openxmlformats.org/officeDocument/2006/relationships/themeOverride" Target="../theme/themeOverride1.xml" /><ns0:Relationship Id="rId1" Type="http://schemas.openxmlformats.org/officeDocument/2006/relationships/image" Target="../media/image7.png" /></ns0:Relationships>
</file>

<file path=ppt/slides/_rels/slide5.xml.rels><?xml version='1.0' encoding='utf-8'?>
<ns0:Relationships xmlns:ns0="http://schemas.openxmlformats.org/package/2006/relationships"><ns0:Relationship Id="rId7" Type="http://schemas.openxmlformats.org/officeDocument/2006/relationships/slideLayout" Target="../slideLayouts/slideLayout14.xml" /><ns0:Relationship Id="rId6" Type="http://schemas.openxmlformats.org/officeDocument/2006/relationships/themeOverride" Target="../theme/themeOverride2.xml" /><ns0:Relationship Id="rId5" Type="http://schemas.openxmlformats.org/officeDocument/2006/relationships/image" Target="../media/image11.png" /><ns0:Relationship Id="rId4" Type="http://schemas.openxmlformats.org/officeDocument/2006/relationships/image" Target="../media/image10.png" /><ns0:Relationship Id="rId3" Type="http://schemas.openxmlformats.org/officeDocument/2006/relationships/image" Target="../media/image9.png" /><ns0:Relationship Id="rId2" Type="http://schemas.openxmlformats.org/officeDocument/2006/relationships/image" Target="../media/image8.png" /><ns0:Relationship Id="rId1" Type="http://schemas.openxmlformats.org/officeDocument/2006/relationships/image" Target="../media/image7.png" /></ns0:Relationships>
</file>

<file path=ppt/slides/_rels/slide6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2.png" /></ns0:Relationships>
</file>

<file path=ppt/slides/_rels/slide7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8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9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3.png" /></ns0:Relationships>
</file>

<file path=ppt/slides/_rels/slide10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11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12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13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3.png" /></ns0:Relationships>
</file>

<file path=ppt/slides/_rels/slide14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3.png" /></ns0:Relationships>
</file>

<file path=ppt/slides/_rels/slide15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16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17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18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19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2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4.xml" /></ns0:Relationships>
</file>

<file path=ppt/slides/_rels/slide21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22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23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24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25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26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27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28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29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30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31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32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33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4.xml" /><ns0:Relationship Id="rId1" Type="http://schemas.openxmlformats.org/officeDocument/2006/relationships/image" Target="../media/image17.png" /></ns0:Relationships>
</file>

<file path=ppt/slides/_rels/slide3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4.xml" /></ns0:Relationships>
</file>

<file path=ppt/slides/_rels/slide3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4.xml" /></ns0:Relationships>
</file>

<file path=ppt/slides/_rels/slide3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4.xml" /></ns0:Relationships>
</file>

<file path=ppt/slides/_rels/slide3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4.xml" /></ns0:Relationships>
</file>

<file path=ppt/slides/_rels/slide38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2.xml" /><ns0:Relationship Id="rId1" Type="http://schemas.openxmlformats.org/officeDocument/2006/relationships/image" Target="../media/image18.jpeg" /></ns0:Relationships>
</file>

<file path=ppt/slides/slide1.xml><?xml version="1.0" encoding="utf-8"?>
<p:sld xmlns:a="http://schemas.openxmlformats.org/drawingml/2006/main" xmlns:ns3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PT-03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0" y="14515"/>
            <a:ext cx="9235440" cy="5199553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>
          <a:xfrm>
            <a:off x="0" y="1654175"/>
            <a:ext cx="9234805" cy="8553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语音识别设备操作与使用培训</a:t>
            </a:r>
            <a:endParaRPr kumimoji="1"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2616200"/>
            <a:ext cx="923480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培训对象：系统操作员与后台管理员</a:t>
            </a:r>
            <a:endParaRPr lang="zh-CN" altLang="en-US" sz="2200" dirty="0"/>
          </a:p>
        </p:txBody>
      </p:sp>
      <p:sp>
        <p:nvSpPr>
          <p:cNvPr id="14" name="矩形 13"/>
          <p:cNvSpPr/>
          <p:nvPr/>
        </p:nvSpPr>
        <p:spPr>
          <a:xfrm>
            <a:off x="-635" y="3103880"/>
            <a:ext cx="9235440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kumimoji="1" lang="zh-CN" altLang="en-US"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培训日期：2026.3.14</a:t>
            </a:r>
            <a:endParaRPr kumimoji="1"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7429500" y="619125"/>
            <a:ext cx="104775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ns3="http://schemas.microsoft.com/office/drawing/2010/main" xmlns:ns4="http://schemas.openxmlformats.org/markup-compatibility/2006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 bwMode="auto">
          <a:xfrm>
            <a:off x="2" y="0"/>
            <a:ext cx="4419601" cy="51435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 bwMode="auto">
          <a:xfrm rot="5400000" flipV="1">
            <a:off x="1402556" y="-1402554"/>
            <a:ext cx="928688" cy="37337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 bwMode="auto">
          <a:xfrm rot="5400000">
            <a:off x="1409697" y="2819402"/>
            <a:ext cx="914401" cy="37337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143000" y="802670"/>
            <a:ext cx="2065538" cy="3485243"/>
            <a:chOff x="0" y="1111187"/>
            <a:chExt cx="2754050" cy="4646991"/>
          </a:xfrm>
        </p:grpSpPr>
        <p:sp>
          <p:nvSpPr>
            <p:cNvPr id="48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/>
          <p:nvPr/>
        </p:nvPicPr>
        <p:blipFill>
          <a:blip r:embed="rId1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0" y="1107962"/>
            <a:ext cx="3984172" cy="2929037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1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0" y="1107014"/>
            <a:ext cx="4986338" cy="2929473"/>
          </a:xfrm>
          <a:prstGeom prst="rect">
            <a:avLst/>
          </a:prstGeom>
        </p:spPr>
      </p:pic>
      <p:sp>
        <p:nvSpPr>
          <p:cNvPr id="39" name="任意多边形 38"/>
          <p:cNvSpPr/>
          <p:nvPr/>
        </p:nvSpPr>
        <p:spPr>
          <a:xfrm rot="16200000">
            <a:off x="1222480" y="1102829"/>
            <a:ext cx="5143502" cy="293784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4" name="任意多边形 43"/>
          <p:cNvSpPr/>
          <p:nvPr/>
        </p:nvSpPr>
        <p:spPr>
          <a:xfrm rot="16200000">
            <a:off x="2845497" y="-12027"/>
            <a:ext cx="5151674" cy="5159381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444553" y="1142128"/>
            <a:ext cx="2885886" cy="92202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700" dirty="0">
                <a:sym typeface="微软雅黑" panose="020B0503020204020204" pitchFamily="34" charset="-122"/>
              </a:rPr>
              <a:t>培训目标</a:t>
            </a:r>
            <a:r>
              <a:rPr lang="en-US" altLang="zh-CN" sz="2700" dirty="0">
                <a:sym typeface="微软雅黑" panose="020B0503020204020204" pitchFamily="34" charset="-122"/>
              </a:rPr>
              <a:t>| </a:t>
            </a:r>
            <a:endParaRPr lang="en-US" altLang="zh-CN" sz="2700" dirty="0">
              <a:sym typeface="微软雅黑" panose="020B0503020204020204" pitchFamily="34" charset="-122"/>
            </a:endParaRPr>
          </a:p>
          <a:p>
            <a:r>
              <a:rPr lang="en-US" altLang="zh-CN" sz="2700" dirty="0">
                <a:sym typeface="微软雅黑" panose="020B0503020204020204" pitchFamily="34" charset="-122"/>
              </a:rPr>
              <a:t>GOAL</a:t>
            </a:r>
            <a:endParaRPr lang="en-US" altLang="zh-CN" sz="2700" dirty="0">
              <a:sym typeface="微软雅黑" panose="020B0503020204020204" pitchFamily="3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7429500" y="619125"/>
            <a:ext cx="1047750" cy="1047750"/>
          </a:xfrm>
          <a:prstGeom prst="rect">
            <a:avLst/>
          </a:prstGeom>
        </p:spPr>
      </p:pic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4538366" y="3245485"/>
            <a:ext cx="3439139" cy="321945"/>
            <a:chOff x="7150" y="4689"/>
            <a:chExt cx="5416" cy="507"/>
          </a:xfrm>
        </p:grpSpPr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7150" y="4737"/>
              <a:ext cx="374" cy="3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500" b="1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endParaRPr lang="en-US" altLang="zh-CN" sz="15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7697" y="4689"/>
              <a:ext cx="4869" cy="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5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会判断转写、说话人、指令命中与转发状态</a:t>
              </a:r>
              <a:endParaRPr lang="zh-CN" alt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6"/>
            </p:custDataLst>
          </p:nvPr>
        </p:nvGrpSpPr>
        <p:grpSpPr>
          <a:xfrm>
            <a:off x="4538366" y="3714750"/>
            <a:ext cx="3131164" cy="321945"/>
            <a:chOff x="7150" y="5243"/>
            <a:chExt cx="4931" cy="507"/>
          </a:xfrm>
        </p:grpSpPr>
        <p:sp>
          <p:nvSpPr>
            <p:cNvPr id="23" name="矩形 22"/>
            <p:cNvSpPr/>
            <p:nvPr>
              <p:custDataLst>
                <p:tags r:id="rId7"/>
              </p:custDataLst>
            </p:nvPr>
          </p:nvSpPr>
          <p:spPr>
            <a:xfrm>
              <a:off x="7150" y="5309"/>
              <a:ext cx="374" cy="3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500" b="1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4</a:t>
              </a:r>
              <a:endParaRPr lang="en-US" altLang="zh-CN" sz="15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8"/>
              </p:custDataLst>
            </p:nvPr>
          </p:nvSpPr>
          <p:spPr>
            <a:xfrm>
              <a:off x="7697" y="5243"/>
              <a:ext cx="4384" cy="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5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会处理常见故障并完成日常维护</a:t>
              </a:r>
              <a:endParaRPr lang="zh-CN" alt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4540250" y="2702560"/>
            <a:ext cx="3494405" cy="325120"/>
            <a:chOff x="7150" y="4084"/>
            <a:chExt cx="5503" cy="512"/>
          </a:xfrm>
        </p:grpSpPr>
        <p:sp>
          <p:nvSpPr>
            <p:cNvPr id="74" name="矩形 73"/>
            <p:cNvSpPr/>
            <p:nvPr>
              <p:custDataLst>
                <p:tags r:id="rId10"/>
              </p:custDataLst>
            </p:nvPr>
          </p:nvSpPr>
          <p:spPr>
            <a:xfrm>
              <a:off x="7150" y="4137"/>
              <a:ext cx="374" cy="3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500" b="1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endParaRPr lang="en-US" altLang="zh-CN" sz="15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7697" y="4090"/>
              <a:ext cx="4957" cy="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endParaRPr lang="zh-CN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11"/>
              </p:custDataLst>
            </p:nvPr>
          </p:nvSpPr>
          <p:spPr>
            <a:xfrm>
              <a:off x="7714" y="4084"/>
              <a:ext cx="4852" cy="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5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掌握开机、采集、停止、查询日志的标准流程</a:t>
              </a:r>
              <a:endParaRPr lang="zh-CN" alt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2"/>
            </p:custDataLst>
          </p:nvPr>
        </p:nvGrpSpPr>
        <p:grpSpPr>
          <a:xfrm>
            <a:off x="4540250" y="2209165"/>
            <a:ext cx="2690495" cy="321310"/>
            <a:chOff x="7150" y="3479"/>
            <a:chExt cx="4237" cy="506"/>
          </a:xfrm>
        </p:grpSpPr>
        <p:sp>
          <p:nvSpPr>
            <p:cNvPr id="72" name="矩形 71"/>
            <p:cNvSpPr/>
            <p:nvPr>
              <p:custDataLst>
                <p:tags r:id="rId13"/>
              </p:custDataLst>
            </p:nvPr>
          </p:nvSpPr>
          <p:spPr>
            <a:xfrm>
              <a:off x="7150" y="3538"/>
              <a:ext cx="374" cy="37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00" b="1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endPara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72"/>
            <p:cNvSpPr/>
            <p:nvPr>
              <p:custDataLst>
                <p:tags r:id="rId14"/>
              </p:custDataLst>
            </p:nvPr>
          </p:nvSpPr>
          <p:spPr>
            <a:xfrm>
              <a:off x="7697" y="3479"/>
              <a:ext cx="3690" cy="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r>
                <a:rPr lang="zh-CN" altLang="en-US" sz="15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了解系统页面、功能入口和角色分工</a:t>
              </a:r>
              <a:endParaRPr lang="zh-CN" alt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ns4:AlternateContent>
    <ns4:Choice Requires="p14">
      <p:transition spd="med" ns5:dur="700">
        <p:fade/>
      </p:transition>
    </ns4:Choice>
    <ns4:Fallback>
      <p:transition spd="med">
        <p:fade/>
      </p:transition>
    </ns4:Fallback>
  </ns4:AlternateContent>
</p:sld>
</file>

<file path=ppt/slides/slide3.xml><?xml version="1.0" encoding="utf-8"?>
<p:sld xmlns:a="http://schemas.openxmlformats.org/drawingml/2006/main" xmlns:ns3="http://schemas.microsoft.com/office/drawing/2010/main" xmlns:ns4="http://schemas.openxmlformats.org/markup-compatibility/2006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2" y="0"/>
            <a:ext cx="4419601" cy="51435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 rot="5400000" flipV="1">
            <a:off x="1402556" y="-1402554"/>
            <a:ext cx="928688" cy="37337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 rot="5400000">
            <a:off x="1409697" y="2819402"/>
            <a:ext cx="914401" cy="37337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143000" y="802670"/>
            <a:ext cx="2065538" cy="3485243"/>
            <a:chOff x="0" y="1111187"/>
            <a:chExt cx="2754050" cy="4646991"/>
          </a:xfrm>
        </p:grpSpPr>
        <p:sp>
          <p:nvSpPr>
            <p:cNvPr id="16" name="椭圆 15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1" name="图片 20"/>
          <p:cNvPicPr/>
          <p:nvPr/>
        </p:nvPicPr>
        <p:blipFill>
          <a:blip r:embed="rId1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0" y="1107962"/>
            <a:ext cx="3984172" cy="2929037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1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0" y="1107014"/>
            <a:ext cx="4986338" cy="2929473"/>
          </a:xfrm>
          <a:prstGeom prst="rect">
            <a:avLst/>
          </a:prstGeom>
        </p:spPr>
      </p:pic>
      <p:sp>
        <p:nvSpPr>
          <p:cNvPr id="25" name="任意多边形 24"/>
          <p:cNvSpPr/>
          <p:nvPr/>
        </p:nvSpPr>
        <p:spPr>
          <a:xfrm rot="16200000">
            <a:off x="1222480" y="1102829"/>
            <a:ext cx="5143502" cy="293784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/>
        </p:nvSpPr>
        <p:spPr>
          <a:xfrm rot="16200000">
            <a:off x="2845497" y="-12027"/>
            <a:ext cx="5151674" cy="5159381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40271" y="2246438"/>
            <a:ext cx="237601" cy="23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887372" y="2209026"/>
            <a:ext cx="3611326" cy="321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系统与角色</a:t>
            </a:r>
            <a:endParaRPr lang="zh-CN" alt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540271" y="2627717"/>
            <a:ext cx="237601" cy="2376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887372" y="2597095"/>
            <a:ext cx="4039856" cy="321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endParaRPr lang="zh-CN" altLang="en-US" sz="15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444553" y="1142128"/>
            <a:ext cx="2885886" cy="92333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700" dirty="0">
                <a:sym typeface="微软雅黑" panose="020B0503020204020204" pitchFamily="34" charset="-122"/>
              </a:rPr>
              <a:t>目录 </a:t>
            </a:r>
            <a:r>
              <a:rPr lang="en-US" altLang="zh-CN" sz="2700" dirty="0">
                <a:sym typeface="微软雅黑" panose="020B0503020204020204" pitchFamily="34" charset="-122"/>
              </a:rPr>
              <a:t>| CONTENT</a:t>
            </a:r>
            <a:endParaRPr lang="en-US" altLang="zh-CN" sz="2700" dirty="0">
              <a:sym typeface="微软雅黑" panose="020B0503020204020204" pitchFamily="34" charset="-122"/>
            </a:endParaRPr>
          </a:p>
        </p:txBody>
      </p:sp>
      <p:pic>
        <p:nvPicPr>
          <p:cNvPr id="32" name="图片 31"/>
          <p:cNvPicPr/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7429500" y="619125"/>
            <a:ext cx="1047750" cy="104775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4540271" y="3008072"/>
            <a:ext cx="237601" cy="2376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887372" y="2977450"/>
            <a:ext cx="4039856" cy="321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主页与实时功能</a:t>
            </a:r>
            <a:endParaRPr lang="zh-CN" altLang="en-US" sz="15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540271" y="3371453"/>
            <a:ext cx="237601" cy="2376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540270" y="3747678"/>
            <a:ext cx="237601" cy="2376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887372" y="3329281"/>
            <a:ext cx="4039856" cy="321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后台页面与管理员功能</a:t>
            </a:r>
            <a:endParaRPr lang="zh-CN" altLang="en-US" sz="15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887372" y="3705505"/>
            <a:ext cx="4039856" cy="321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状态说明与问题处理</a:t>
            </a:r>
            <a:endParaRPr lang="zh-CN" altLang="en-US" sz="15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540270" y="4163603"/>
            <a:ext cx="237601" cy="2376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887372" y="4121430"/>
            <a:ext cx="4039856" cy="321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培训总结</a:t>
            </a:r>
            <a:endParaRPr lang="zh-CN" altLang="en-US" sz="15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898167" y="2593275"/>
            <a:ext cx="4039856" cy="321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操作流程与日志</a:t>
            </a:r>
            <a:endParaRPr lang="zh-CN" altLang="en-US" sz="15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ns4:AlternateContent>
    <ns4:Choice Requires="p14">
      <p:transition spd="med" ns5:dur="700">
        <p:fade/>
      </p:transition>
    </ns4:Choice>
    <ns4:Fallback>
      <p:transition spd="med">
        <p:fade/>
      </p:transition>
    </ns4:Fallback>
  </ns4:AlternateContent>
</p:sld>
</file>

<file path=ppt/slides/slide4.xml><?xml version="1.0" encoding="utf-8"?>
<p:sld xmlns:a="http://schemas.openxmlformats.org/drawingml/2006/main" xmlns:ns2="http://schemas.microsoft.com/office/drawing/2010/main" xmlns:ns4="http://schemas.openxmlformats.org/markup-compatibility/2006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2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系统概述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2" y="-1846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2:hiddenFill>
                <a:solidFill>
                  <a:schemeClr val="accent1"/>
                </a:solidFill>
              </ns2:hiddenFill>
            </a:ext>
            <a:ext uri="{91240B29-F687-4F45-9708-019B960494DF}">
              <ns2:hiddenLine w="9525">
                <a:solidFill>
                  <a:schemeClr val="tx1"/>
                </a:solidFill>
                <a:miter lim="800000"/>
                <a:headEnd/>
                <a:tailEnd/>
              </ns2:hiddenLine>
            </a:ext>
            <a:ext uri="{AF507438-7753-43E0-B8FC-AC1667EBCBE1}">
              <ns2:hiddenEffects>
                <a:effectLst>
                  <a:outerShdw dist="35921" dir="2700000" algn="ctr" rotWithShape="0">
                    <a:schemeClr val="bg2"/>
                  </a:outerShdw>
                </a:effectLst>
              </ns2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46"/>
          <p:cNvSpPr>
            <a:spLocks noChangeArrowheads="1"/>
          </p:cNvSpPr>
          <p:nvPr/>
        </p:nvSpPr>
        <p:spPr bwMode="auto">
          <a:xfrm>
            <a:off x="2" y="-1846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2:hiddenFill>
                <a:solidFill>
                  <a:schemeClr val="accent1"/>
                </a:solidFill>
              </ns2:hiddenFill>
            </a:ext>
            <a:ext uri="{91240B29-F687-4F45-9708-019B960494DF}">
              <ns2:hiddenLine w="9525">
                <a:solidFill>
                  <a:schemeClr val="tx1"/>
                </a:solidFill>
                <a:miter lim="800000"/>
                <a:headEnd/>
                <a:tailEnd/>
              </ns2:hiddenLine>
            </a:ext>
            <a:ext uri="{AF507438-7753-43E0-B8FC-AC1667EBCBE1}">
              <ns2:hiddenEffects>
                <a:effectLst>
                  <a:outerShdw dist="35921" dir="2700000" algn="ctr" rotWithShape="0">
                    <a:schemeClr val="bg2"/>
                  </a:outerShdw>
                </a:effectLst>
              </ns2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ectangle 55"/>
          <p:cNvSpPr>
            <a:spLocks noChangeArrowheads="1"/>
          </p:cNvSpPr>
          <p:nvPr/>
        </p:nvSpPr>
        <p:spPr bwMode="auto">
          <a:xfrm>
            <a:off x="2" y="-1846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2:hiddenFill>
                <a:solidFill>
                  <a:schemeClr val="accent1"/>
                </a:solidFill>
              </ns2:hiddenFill>
            </a:ext>
            <a:ext uri="{91240B29-F687-4F45-9708-019B960494DF}">
              <ns2:hiddenLine w="9525">
                <a:solidFill>
                  <a:schemeClr val="tx1"/>
                </a:solidFill>
                <a:miter lim="800000"/>
                <a:headEnd/>
                <a:tailEnd/>
              </ns2:hiddenLine>
            </a:ext>
            <a:ext uri="{AF507438-7753-43E0-B8FC-AC1667EBCBE1}">
              <ns2:hiddenEffects>
                <a:effectLst>
                  <a:outerShdw dist="35921" dir="2700000" algn="ctr" rotWithShape="0">
                    <a:schemeClr val="bg2"/>
                  </a:outerShdw>
                </a:effectLst>
              </ns2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8230" y="723265"/>
            <a:ext cx="712025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本系统用于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采集现场语音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实时转写文字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识别当前主说话人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判断是否命中预设指令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。操作员日常重点关注“能否采集、文字是否正常、说话人是否正确、指令是否发送成功”四项结果。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191385" y="2075815"/>
            <a:ext cx="4895215" cy="2748280"/>
            <a:chOff x="3451" y="3350"/>
            <a:chExt cx="7709" cy="432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51" y="3350"/>
              <a:ext cx="7708" cy="3748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3462" y="7098"/>
              <a:ext cx="769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设备与系统示意</a:t>
              </a:r>
              <a:endParaRPr lang="zh-CN" alt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ns4:AlternateContent>
    <ns4:Choice Requires="p14">
      <p:transition spd="slow" ns5:dur="2000" advTm="22878"/>
    </ns4:Choice>
    <ns4:Fallback>
      <p:transition spd="slow" advTm="22878"/>
    </ns4:Fallback>
  </ns4:AlternateContent>
</p:sld>
</file>

<file path=ppt/slides/slide5.xml><?xml version="1.0" encoding="utf-8"?>
<p:sld xmlns:a="http://schemas.openxmlformats.org/drawingml/2006/main" xmlns:ns2="http://schemas.microsoft.com/office/drawing/2010/main" xmlns:ns4="http://schemas.openxmlformats.org/markup-compatibility/2006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2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系统与硬件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2" y="-1846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2:hiddenFill>
                <a:solidFill>
                  <a:schemeClr val="accent1"/>
                </a:solidFill>
              </ns2:hiddenFill>
            </a:ext>
            <a:ext uri="{91240B29-F687-4F45-9708-019B960494DF}">
              <ns2:hiddenLine w="9525">
                <a:solidFill>
                  <a:schemeClr val="tx1"/>
                </a:solidFill>
                <a:miter lim="800000"/>
                <a:headEnd/>
                <a:tailEnd/>
              </ns2:hiddenLine>
            </a:ext>
            <a:ext uri="{AF507438-7753-43E0-B8FC-AC1667EBCBE1}">
              <ns2:hiddenEffects>
                <a:effectLst>
                  <a:outerShdw dist="35921" dir="2700000" algn="ctr" rotWithShape="0">
                    <a:schemeClr val="bg2"/>
                  </a:outerShdw>
                </a:effectLst>
              </ns2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46"/>
          <p:cNvSpPr>
            <a:spLocks noChangeArrowheads="1"/>
          </p:cNvSpPr>
          <p:nvPr/>
        </p:nvSpPr>
        <p:spPr bwMode="auto">
          <a:xfrm>
            <a:off x="2" y="-1846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2:hiddenFill>
                <a:solidFill>
                  <a:schemeClr val="accent1"/>
                </a:solidFill>
              </ns2:hiddenFill>
            </a:ext>
            <a:ext uri="{91240B29-F687-4F45-9708-019B960494DF}">
              <ns2:hiddenLine w="9525">
                <a:solidFill>
                  <a:schemeClr val="tx1"/>
                </a:solidFill>
                <a:miter lim="800000"/>
                <a:headEnd/>
                <a:tailEnd/>
              </ns2:hiddenLine>
            </a:ext>
            <a:ext uri="{AF507438-7753-43E0-B8FC-AC1667EBCBE1}">
              <ns2:hiddenEffects>
                <a:effectLst>
                  <a:outerShdw dist="35921" dir="2700000" algn="ctr" rotWithShape="0">
                    <a:schemeClr val="bg2"/>
                  </a:outerShdw>
                </a:effectLst>
              </ns2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ectangle 55"/>
          <p:cNvSpPr>
            <a:spLocks noChangeArrowheads="1"/>
          </p:cNvSpPr>
          <p:nvPr/>
        </p:nvSpPr>
        <p:spPr bwMode="auto">
          <a:xfrm>
            <a:off x="2" y="-1846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2:hiddenFill>
                <a:solidFill>
                  <a:schemeClr val="accent1"/>
                </a:solidFill>
              </ns2:hiddenFill>
            </a:ext>
            <a:ext uri="{91240B29-F687-4F45-9708-019B960494DF}">
              <ns2:hiddenLine w="9525">
                <a:solidFill>
                  <a:schemeClr val="tx1"/>
                </a:solidFill>
                <a:miter lim="800000"/>
                <a:headEnd/>
                <a:tailEnd/>
              </ns2:hiddenLine>
            </a:ext>
            <a:ext uri="{AF507438-7753-43E0-B8FC-AC1667EBCBE1}">
              <ns2:hiddenEffects>
                <a:effectLst>
                  <a:outerShdw dist="35921" dir="2700000" algn="ctr" rotWithShape="0">
                    <a:schemeClr val="bg2"/>
                  </a:outerShdw>
                </a:effectLst>
              </ns2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2131060" y="1475105"/>
            <a:ext cx="2978688" cy="2971006"/>
            <a:chOff x="4455" y="1234"/>
            <a:chExt cx="5541" cy="565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55" y="1234"/>
              <a:ext cx="5540" cy="2757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5" y="4247"/>
              <a:ext cx="5541" cy="2645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5858510" y="2142682"/>
            <a:ext cx="1681337" cy="1271447"/>
            <a:chOff x="10854" y="3549"/>
            <a:chExt cx="3421" cy="2655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54" y="3549"/>
              <a:ext cx="1620" cy="1582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10854" y="5150"/>
              <a:ext cx="3421" cy="10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麦克风：</a:t>
              </a:r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ReSpeaker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zh-CN" altLang="en-US" sz="14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麦克风阵列，用于采集现场语音</a:t>
              </a:r>
              <a:endParaRPr lang="zh-CN" altLang="en-US" sz="140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774055" y="3448685"/>
            <a:ext cx="2171065" cy="1319530"/>
            <a:chOff x="11220" y="5928"/>
            <a:chExt cx="3419" cy="207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751" y="5928"/>
              <a:ext cx="1755" cy="1290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11220" y="7199"/>
              <a:ext cx="3419" cy="80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sz="14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主板：香橙派</a:t>
              </a:r>
              <a:endParaRPr lang="zh-CN" sz="14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zh-CN" altLang="en-US" sz="14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芯片：瑞芯微</a:t>
              </a:r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RK3588</a:t>
              </a:r>
              <a:endParaRPr lang="zh-CN" altLang="en-US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639435" y="1167130"/>
            <a:ext cx="2185670" cy="854710"/>
            <a:chOff x="10980" y="1381"/>
            <a:chExt cx="3442" cy="1346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73" y="1381"/>
              <a:ext cx="1303" cy="912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>
            <a:xfrm>
              <a:off x="10980" y="2321"/>
              <a:ext cx="3442" cy="4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sz="14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屏幕：触摸屏，用于本地查看页面与操作</a:t>
              </a:r>
              <a:endParaRPr 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24" name="直接连接符 23"/>
          <p:cNvCxnSpPr/>
          <p:nvPr/>
        </p:nvCxnSpPr>
        <p:spPr>
          <a:xfrm flipV="1">
            <a:off x="3185160" y="1365885"/>
            <a:ext cx="292100" cy="1377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477260" y="1365885"/>
            <a:ext cx="26581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6135370" y="1317625"/>
            <a:ext cx="76200" cy="76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4897120" y="2138045"/>
            <a:ext cx="1268730" cy="465455"/>
            <a:chOff x="8411" y="3509"/>
            <a:chExt cx="1998" cy="733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8411" y="3509"/>
              <a:ext cx="884" cy="68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7" name="组合 36"/>
            <p:cNvGrpSpPr/>
            <p:nvPr/>
          </p:nvGrpSpPr>
          <p:grpSpPr>
            <a:xfrm>
              <a:off x="9263" y="4122"/>
              <a:ext cx="1146" cy="120"/>
              <a:chOff x="10557" y="3588"/>
              <a:chExt cx="1146" cy="120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11583" y="3588"/>
                <a:ext cx="120" cy="12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6" name="直接连接符 35"/>
              <p:cNvCxnSpPr/>
              <p:nvPr/>
            </p:nvCxnSpPr>
            <p:spPr>
              <a:xfrm flipV="1">
                <a:off x="10557" y="3648"/>
                <a:ext cx="1082" cy="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0" name="直接连接符 39"/>
          <p:cNvCxnSpPr>
            <a:endCxn id="41" idx="2"/>
          </p:cNvCxnSpPr>
          <p:nvPr/>
        </p:nvCxnSpPr>
        <p:spPr>
          <a:xfrm>
            <a:off x="4791075" y="3872230"/>
            <a:ext cx="1258570" cy="1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6049645" y="3836035"/>
            <a:ext cx="76200" cy="76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131060" y="6477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设备外观示意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774055" y="647700"/>
            <a:ext cx="1697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操作前先检查：电源、麦克风、屏幕、网络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ns4:AlternateContent>
    <ns4:Choice Requires="p14">
      <p:transition spd="slow" ns5:dur="2000" advTm="22878"/>
    </ns4:Choice>
    <ns4:Fallback>
      <p:transition spd="slow" advTm="22878"/>
    </ns4:Fallback>
  </ns4:AlternateContent>
</p:sld>
</file>

<file path=ppt/slides/slide6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角色与使用范围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85800" y="675640"/>
            <a:ext cx="784352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/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系统当前包含公开主页和后台管理两类入口。普通操作员主要使用</a:t>
            </a:r>
            <a:r>
              <a:rPr 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主页采集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实时转写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指令结果查看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日志查询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；管理员除上述功能外，还可维护</a:t>
            </a:r>
            <a:r>
              <a:rPr 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操作员资料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岗位权限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指令库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日志中心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6470" y="1546860"/>
            <a:ext cx="4742180" cy="3255010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7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页面导航总览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顶部导航说明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登录后，页面顶部会显示系统名称、功能菜单、当前登录名和退出按钮。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导航入口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实时监控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主页，进行开始采集、停止采集、查看实时转写、说话人和指令结果。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后台页面</a:t>
            </a:r>
            <a:r>
              <a:rPr lang="zh-CN" altLang="en-US" sz="1600"/>
              <a:t>指令管理、操作员管理、岗位管理、日志中心均需登录后进入。</a:t>
            </a:r>
            <a:r>
              <a:rPr lang="zh-CN" altLang="en-US" sz="1600"/>
              <a:t>登录区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右上角会显示当前账号名称；未登录时只显示“管理员登录”入口。</a:t>
            </a:r>
            <a:r>
              <a:rPr lang="zh-CN" altLang="en-US" sz="1600"/>
              <a:t>操作建议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普通操作员通常只需要主页和日志中心；维护类页面由管理员使用。</a:t>
            </a:r>
            <a:r>
              <a:rPr lang="zh-CN" altLang="en-US" sz="1600"/>
              <a:t>截图建议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截一张登录后的完整导航栏，作为后续页面介绍的总索引。</a:t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8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主页总览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主页结构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主页是操作员最常使用的页面，核心区域包括实时转写区、顶部控制区和右侧指令识别卡片。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左侧主区域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显示开始/停止采集按钮、说话人识别开关、保存录音开关、音频增强设置和实时转写列表。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右侧卡片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显示指令识别开关、转发目标在线状态、最新命中指令、匹配分数和转发结果。</a:t>
            </a:r>
            <a:r>
              <a:rPr lang="zh-CN" altLang="en-US" sz="1600"/>
              <a:t>右边缘按钮</a:t>
            </a:r>
            <a:r>
              <a:rPr lang="zh-CN" altLang="en-US" sz="1600"/>
              <a:t>登录后可打开“测试面板”，查看 WebSocket RTT 当前值、平均值、P95 和样本数。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培训重点</a:t>
            </a:r>
            <a:r>
              <a:rPr lang="zh-CN" altLang="en-US" sz="1600"/>
              <a:t>主页既是操作入口，也是状态判断入口，培训时应优先展示此页的完整结构。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保留完整页面，不要裁掉右侧卡片和右边缘测试面板按钮。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9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登录页面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后台功能入口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85800" y="690245"/>
            <a:ext cx="78435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登录页用于进入管理员后台。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输入用户名和密码后点击“登录”，成功后会跳转到控制台主页；未登录时普通用户仍可直接打开主页，但看不到后台菜单。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221029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1329055"/>
            <a:ext cx="7389495" cy="3340100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10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主页顶部控制区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控制区作用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主页顶部是最常操作的区域，开始采集前需要先确认这里的开关和按钮状态。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开始采集/停止采集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点击开始后，按钮会切换为“停止采集”；再次点击则结束本次会话。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说话人识别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决定当前会话是否尝试识别主说话人；采集中不能修改。</a:t>
            </a:r>
            <a:r>
              <a:rPr lang="zh-CN" altLang="en-US" sz="1600"/>
              <a:t>保存录音</a:t>
            </a:r>
            <a:r>
              <a:rPr lang="zh-CN" altLang="en-US" sz="1600"/>
              <a:t>决定本次会话是否保存音频文件；采集中不能修改。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清空按钮</a:t>
            </a:r>
            <a:r>
              <a:rPr lang="zh-CN" altLang="en-US" sz="1600"/>
              <a:t>用于清除当前页面已显示的转写内容，不会删除后台已保存的历史记录。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截图时让按钮处于未采集状态，便于同时展示全部开关。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11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开始采集与停止采集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开始采集前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先检查麦克风、网络、说话人识别开关、保存录音开关和音频增强配置是否已设置正确。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点击开始采集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系统会请求麦克风权限并建立实时会话；成功后页面会提示“音频采集已开始”。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采集中表现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状态文本会显示“采集中”或“麦克风静音中”，实时转写列表开始接收语音文本。</a:t>
            </a:r>
            <a:r>
              <a:rPr lang="zh-CN" altLang="en-US" sz="1600"/>
              <a:t>点击停止采集</a:t>
            </a:r>
            <a:r>
              <a:rPr lang="zh-CN" altLang="en-US" sz="1600"/>
              <a:t>本次会话结束，必要时可立即进入日志中心查询该次会话记录。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异常提示</a:t>
            </a:r>
            <a:r>
              <a:rPr lang="zh-CN" altLang="en-US" sz="1600"/>
              <a:t>若无法开始采集，通常会提示麦克风权限问题、设备连接问题或麦克风启动失败。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做一页双图对比：左图未采集，右图采集中，帮助操作员理解状态切换。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12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静音、清空与当前状态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静音按钮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登录后在采集中可使用“静音/取消静音”，用于临时停止上传麦克风内容而不结束会话。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清空按钮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用于清空当前页面上的转写显示，适合开始新一轮演示前使用。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当前状态文本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常见状态包括“麦克风已停止”“采集中”“麦克风静音中”，可快速判断当前会话状态。</a:t>
            </a:r>
            <a:r>
              <a:rPr lang="zh-CN" altLang="en-US" sz="1600"/>
              <a:t>访客与登录差异</a:t>
            </a:r>
            <a:r>
              <a:rPr lang="zh-CN" altLang="en-US" sz="1600"/>
              <a:t>未登录用户只会看到开始/停止采集，不显示静音按钮和部分后台功能。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培训提醒</a:t>
            </a:r>
            <a:r>
              <a:rPr lang="zh-CN" altLang="en-US" sz="1600"/>
              <a:t>静音不是停止采集；若要结束会话并保存日志，应点击“停止采集”。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采集中截图最合适，可同时看到静音按钮和状态文本。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13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说话人识别开关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功能说明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85800" y="690245"/>
            <a:ext cx="78435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开启后，系统会尝试识别当前主说话人。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若讲话人已完成声纹登记，页面通常会显示对应姓名或岗位；采集中该开关会被禁用，需停止采集后才能修改。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221029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1329055"/>
            <a:ext cx="7389495" cy="3340100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14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3.6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保存录音开关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功能说明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85800" y="690245"/>
            <a:ext cx="78435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开启后，本次会话音频会保存为文件。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从点击“开始采集”到点击“停止采集”之间的音频会被保存；采集中不能切换此开关，因此应在会话开始前决定是否保存。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8221029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1329055"/>
            <a:ext cx="7389495" cy="3340100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15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3.7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音频增强设置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音频增强区域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登录后主页会出现“音频增强”配置区，用于选择不同降噪模式。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切换时机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只能在未采集状态修改；采集中该区域会提示“采集中不可修改”。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页面反馈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页面会显示当前会话返回的增强信息，例如模式名称、强度和是否启用 Dereverb。</a:t>
            </a:r>
            <a:r>
              <a:rPr lang="zh-CN" altLang="en-US" sz="1600"/>
              <a:t>推荐使用</a:t>
            </a:r>
            <a:r>
              <a:rPr lang="zh-CN" altLang="en-US" sz="1600"/>
              <a:t>如果现场环境较安静，可以先保持默认推荐配置；环境复杂时再尝试切换模式。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注意事项</a:t>
            </a:r>
            <a:r>
              <a:rPr lang="zh-CN" altLang="en-US" sz="1600"/>
              <a:t>不要在采集中反复调整增强模式，否则当前会话设置不会立即生效。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截图时同时保留模式选项和顶部状态说明，方便培训时解释。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16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3.8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实时转写区怎么读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转写列表作用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每次识别到有效语音后，主页会新增一条转写记录，最新记录显示在列表顶部。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每条记录包含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说话人名称或“未知说话人”、时间戳、转写文本，以及是否命中指令的标记。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文字颜色差异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未完成识别的内容通常以浅色/斜体显示，完成后的文本会以正常颜色显示。</a:t>
            </a:r>
            <a:r>
              <a:rPr lang="zh-CN" altLang="en-US" sz="1600"/>
              <a:t>暂无转写数据</a:t>
            </a:r>
            <a:r>
              <a:rPr lang="zh-CN" altLang="en-US" sz="1600"/>
              <a:t>表示当前还没有收到任何有效语音，不一定是故障，也可能只是暂未讲话。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培训提醒</a:t>
            </a:r>
            <a:r>
              <a:rPr lang="zh-CN" altLang="en-US" sz="1600"/>
              <a:t>操作员应先看文本是否合理，再看右侧指令卡片和说话人结果是否一致。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选择一张同时包含普通文本和命中指令文本的截图最有代表性。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17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3.9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指令识别卡片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卡片位置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主页右侧显示“指令识别”卡片，用于观察系统是否开启指令匹配和转发。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核心信息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卡片会显示已配置指令数量、识别开关、阈值、转发目标在线状态和最新命中记录。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最新命中记录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包括命令名称、命令编号、命中时间、匹配分数以及转发状态。</a:t>
            </a:r>
            <a:r>
              <a:rPr lang="zh-CN" altLang="en-US" sz="1600"/>
              <a:t>常见状态</a:t>
            </a:r>
            <a:r>
              <a:rPr lang="zh-CN" altLang="en-US" sz="1600"/>
              <a:t>“已转发”表示发送成功；“发送失败”常见原因是目标端离线或转发接口异常；“已阻止”通常和未知说话人有关。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培训提醒</a:t>
            </a:r>
            <a:r>
              <a:rPr lang="zh-CN" altLang="en-US" sz="1600"/>
              <a:t>若指令未开启，所有转写只会作为普通语句显示，不会触发命令结果。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尽量截取一张已经命中指令的页面，便于解释完整字段含义。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18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3.10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告警横幅与测试面板入口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未授权操作告警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当系统检测到未授权操作事件时，主页顶部会出现红色告警横幅，提示操作员及时复核。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横幅信息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会显示事件类型、人员名称和发生时间，并提供“已知晓”按钮用于确认。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测试面板入口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登录后主页右侧会出现悬浮按钮“测试面板”，点击后从右侧抽屉展开。</a:t>
            </a:r>
            <a:r>
              <a:rPr lang="zh-CN" altLang="en-US" sz="1600"/>
              <a:t>使用边界</a:t>
            </a:r>
            <a:r>
              <a:rPr lang="zh-CN" altLang="en-US" sz="1600"/>
              <a:t>告警横幅属于运行提示，测试面板属于检查网络往返延迟的辅助工具。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培训提醒</a:t>
            </a:r>
            <a:r>
              <a:rPr lang="zh-CN" altLang="en-US" sz="1600"/>
              <a:t>普通操作员知道入口和含义即可；深入调试由管理员或技术人员处理。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如果现场难以复现告警，可截图测试环境或说明示意图。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19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3.11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测试面板怎么用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面板作用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测试面板用于查看当前会话的 WebSocket 网络往返延迟（RTT），帮助判断链路是否稳定。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主要字段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包含当前值、平均值、P95、样本数和判定结果；判定规则为样本数不少于 20 且 P95 小于等于 100ms。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样本不足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表示会话刚开始或采样时间不够，并不代表故障；继续采集即可获得更多样本。</a:t>
            </a:r>
            <a:r>
              <a:rPr lang="zh-CN" altLang="en-US" sz="1600"/>
              <a:t>清空样本</a:t>
            </a:r>
            <a:r>
              <a:rPr lang="zh-CN" altLang="en-US" sz="1600"/>
              <a:t>点击“清空样本”可重新开始统计，适合重新进行一次测试时使用。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培训提醒</a:t>
            </a:r>
            <a:r>
              <a:rPr lang="zh-CN" altLang="en-US" sz="1600"/>
              <a:t>这个面板主要用于检查网络质量，不用于判断识别文本是否正确。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尽量截一张已有足够样本的面板，便于说明“通过/不通过”的判定逻辑。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20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主页状态说明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7900" y="854075"/>
            <a:ext cx="6604000" cy="203009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“暂无转写数据”表示当前还没有收到有效语音，通常是未讲话、讲话过短或环境过于安静。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）“未知说话人”表示当前没有匹配到已登记声纹，可能是未登记、讲话过短或噪声较大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）“发送失败”通常是转发目标不可达或转发接口异常，不等于语音识别失败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）“样本不足”只代表 RTT 统计样本不够，不表示网络一定异常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）“麦克风已停止/采集中/麦克风静音中”用于判断当前会话状态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）“已转发/已阻止/失败”用于判断命令处理结果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）培训时建议把这些状态逐条讲解，避免操作员误判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ns2:AlternateContent>
    <ns2:Choice Requires="p14">
      <p:transition spd="slow" ns3:dur="2000" advTm="22878"/>
    </ns2:Choice>
    <ns2:Fallback>
      <p:transition spd="slow" advTm="22878"/>
    </ns2:Fallback>
  </ns2:AlternateContent>
</p:sld>
</file>

<file path=ppt/slides/slide21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标准操作流程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 1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开机后先检查电源、麦克风、屏幕、网络是否正常，再进入系统主页。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 2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确认说话人识别、保存录音和音频增强是否已按当前任务需要设置。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步骤 3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点击“开始采集”，对着麦克风正常讲话，观察实时转写、主说话人和指令结果。</a:t>
            </a:r>
            <a:r>
              <a:rPr lang="zh-CN" altLang="en-US" sz="1600"/>
              <a:t>步骤 4</a:t>
            </a:r>
            <a:r>
              <a:rPr lang="zh-CN" altLang="en-US" sz="1600"/>
              <a:t>结束后点击“停止采集”，如需复核可到日志中心查询本次会话记录。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关键提醒</a:t>
            </a:r>
            <a:r>
              <a:rPr lang="zh-CN" altLang="en-US" sz="1600"/>
              <a:t>采集中不要切换音频增强和保存录音开关；若需修改，先停止采集。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本页最适合使用四宫格流程截图，讲解时逐步点读。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22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异常处理流程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情况 1：无法开始采集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先检查浏览器麦克风权限、设备连接和网络，再重新尝试开始采集。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情况 2：没有转写文字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检查是否真的有讲话、麦克风是否正常、会话是否已开始、是否处于静音状态。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情况 3：一直未知说话人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确认该人员是否已登记声纹，讲话时长是否足够，现场噪声是否过大。</a:t>
            </a:r>
            <a:r>
              <a:rPr lang="zh-CN" altLang="en-US" sz="1600"/>
              <a:t>情况 4：指令失败或未命中</a:t>
            </a:r>
            <a:r>
              <a:rPr lang="zh-CN" altLang="en-US" sz="1600"/>
              <a:t>先看文字识别是否正确，再看转发目标是否在线；必要时将会话记录反馈管理员。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上报建议</a:t>
            </a:r>
            <a:r>
              <a:rPr lang="zh-CN" altLang="en-US" sz="1600"/>
              <a:t>遇到无法自行处理的问题，建议记录时间、页面现象和会话信息后再上报。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可用两张典型异常截图配合文字说明：未知说话人、转发失败。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23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日志中心总览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页面作用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日志中心用于查询后台操作事件和历史说话记录，并支持导出 CSV。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两个标签页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“操作事件”用于看账号、岗位、声纹等后台变更；“历史说话记录”用于看每次会话的识别结果。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常用场景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操作员多使用“历史说话记录”核对本次识别；管理员同时会使用“操作事件”查看后台变更。</a:t>
            </a:r>
            <a:r>
              <a:rPr lang="zh-CN" altLang="en-US" sz="1600"/>
              <a:t>导出功能</a:t>
            </a:r>
            <a:r>
              <a:rPr lang="zh-CN" altLang="en-US" sz="1600"/>
              <a:t>两个标签页都支持导出当前筛选结果，便于留档和后续分析。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培训提醒</a:t>
            </a:r>
            <a:r>
              <a:rPr lang="zh-CN" altLang="en-US" sz="1600"/>
              <a:t>主页展示的是实时结果，日志中心展示的是历史记录，二者要配合使用。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优先保留两个 Tab 和右上角导出按钮，便于说明结构。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24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操作事件页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查询内容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该页主要记录创建、更新、删除、切换状态、声纹聚合等后台管理行为。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筛选方式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可按操作类别筛选，也可输入用户名或 ID 查询某个对象相关事件。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表格字段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常见字段包括时间、类别、操作者、关联对象和摘要。</a:t>
            </a:r>
            <a:r>
              <a:rPr lang="zh-CN" altLang="en-US" sz="1600"/>
              <a:t>适用人员</a:t>
            </a:r>
            <a:r>
              <a:rPr lang="zh-CN" altLang="en-US" sz="1600"/>
              <a:t>主要由管理员使用；普通操作员只需知道如发生配置变更，可在此页追溯。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导出用途</a:t>
            </a:r>
            <a:r>
              <a:rPr lang="zh-CN" altLang="en-US" sz="1600"/>
              <a:t>导出 CSV 后可留档或用于验收、排障、追溯分析。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选一张有真实数据的截图，能清晰看到类别和摘要最有帮助。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25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历史说话记录页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查询内容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该页用于查看每次语音会话的识别结果，是操作员最常用的日志页面。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筛选条件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可按会话 ID、主说话人和全文关键字进行查询，便于快速定位某次会话。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表格字段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可查看时间、会话标识、文本内容、段数、时长、相似度、状态、录音文件和转发结果。</a:t>
            </a:r>
            <a:r>
              <a:rPr lang="zh-CN" altLang="en-US" sz="1600"/>
              <a:t>常用核对项</a:t>
            </a:r>
            <a:r>
              <a:rPr lang="zh-CN" altLang="en-US" sz="1600"/>
              <a:t>重点核对文本是否正确、主说话人是否正确、是否有录音文件、命令是否已转发。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导出用途</a:t>
            </a:r>
            <a:r>
              <a:rPr lang="zh-CN" altLang="en-US" sz="1600"/>
              <a:t>导出后可作为培训记录、现场留档或问题复盘材料。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最好选择一条已保存录音且有转发结果的记录，更能说明字段意义。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26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日志导出与查询示例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 1：按会话查询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在历史说话记录页输入会话 ID，可快速定位某次会话的完整识别结果。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 2：按关键字查询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输入全文关键字，可查找某段指令文本是否曾被识别或转发。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示例 3：导出 CSV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点击右上角“导出 CSV”，即可把当前筛选结果导出到本地文件。</a:t>
            </a:r>
            <a:r>
              <a:rPr lang="zh-CN" altLang="en-US" sz="1600"/>
              <a:t>使用建议</a:t>
            </a:r>
            <a:r>
              <a:rPr lang="zh-CN" altLang="en-US" sz="1600"/>
              <a:t>培训时至少演示一次查询和一次导出，让操作员知道历史记录如何留档。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边界说明</a:t>
            </a:r>
            <a:r>
              <a:rPr lang="zh-CN" altLang="en-US" sz="1600"/>
              <a:t>导出的是当前筛选结果，不是全部历史数据；筛选条件会影响导出内容。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做一张“筛选前/筛选后/导出成功”的三联图最直观。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27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操作员管理页总览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页面作用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该页用于维护操作员账号、状态、岗位和声纹登记情况，属于管理员页面。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列表信息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可查看姓名、岗位、状态、声纹状态，并支持分页浏览。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筛选方式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支持按用户名模糊搜索，也可按岗位筛选。</a:t>
            </a:r>
            <a:r>
              <a:rPr lang="zh-CN" altLang="en-US" sz="1600"/>
              <a:t>常用操作</a:t>
            </a:r>
            <a:r>
              <a:rPr lang="zh-CN" altLang="en-US" sz="1600"/>
              <a:t>新增、编辑、删除、启用/禁用、进入声纹登记弹窗。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操作员边界</a:t>
            </a:r>
            <a:r>
              <a:rPr lang="zh-CN" altLang="en-US" sz="1600"/>
              <a:t>普通操作员只需知道自己的账号和声纹是否已登记，不负责维护此页数据。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保留“已登记/未登记”声纹状态列，培训时非常实用。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28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新增、编辑、启停操作员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新增操作员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点击“新增操作员”后填写账号、用户名、角色、手机号和岗位信息，再点击保存。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编辑操作员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列表中点击“编辑”可修改该操作员的资料和岗位。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启用/禁用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点击“禁用/启用”可快速控制该操作员是否可用。</a:t>
            </a:r>
            <a:r>
              <a:rPr lang="zh-CN" altLang="en-US" sz="1600"/>
              <a:t>删除操作员</a:t>
            </a:r>
            <a:r>
              <a:rPr lang="zh-CN" altLang="en-US" sz="1600"/>
              <a:t>删除前系统会弹出确认框，避免误操作。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培训提醒</a:t>
            </a:r>
            <a:r>
              <a:rPr lang="zh-CN" altLang="en-US" sz="1600"/>
              <a:t>这部分主要面向管理员；对普通操作员可简要说明，不必展开讲数据库概念。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建议做一页双图：左侧表格操作，右侧编辑弹窗。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29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声纹登记弹窗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进入方式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在操作员管理页点击“声纹登记”，会打开声纹登记弹窗。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两种方式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支持现场录制和上传文件两种模式；当前系统要求单个样本时长在 15 到 30 秒之间。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现场录制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点击开始录制前会有倒计时，录制过程中会显示进度条和已录制秒数。</a:t>
            </a:r>
            <a:r>
              <a:rPr lang="zh-CN" altLang="en-US" sz="1600"/>
              <a:t>上传文件</a:t>
            </a:r>
            <a:r>
              <a:rPr lang="zh-CN" altLang="en-US" sz="1600"/>
              <a:t>支持 wav、mp3、m4a、aac、ogg、webm 等格式，单个文件不超过 10MB。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完成上传</a:t>
            </a:r>
            <a:r>
              <a:rPr lang="zh-CN" altLang="en-US" sz="1600"/>
              <a:t>样本校验通过后点击“上传声纹”，系统会把样本聚合为该操作员的声纹数据。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建议截取“现场录制”和“已生成样本波形”状态，最能体现功能。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30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岗位管理页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页面作用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岗位管理用于维护岗位名称、权限等级和描述，是 8 级权限管理的配置入口。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列表字段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可查看岗位名称、权限等级（L1-L8）和岗位描述。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新增/编辑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点击新增或编辑后，在弹窗中填写岗位名称、等级和描述。</a:t>
            </a:r>
            <a:r>
              <a:rPr lang="zh-CN" altLang="en-US" sz="1600"/>
              <a:t>删除影响</a:t>
            </a:r>
            <a:r>
              <a:rPr lang="zh-CN" altLang="en-US" sz="1600"/>
              <a:t>删除岗位时会提示相关操作员的岗位信息将被清除。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培训边界</a:t>
            </a:r>
            <a:r>
              <a:rPr lang="zh-CN" altLang="en-US" sz="1600"/>
              <a:t>普通操作员只需知道自己属于哪个岗位，不需要理解后台权限实现细节。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选择一张能看出多个等级颜色差异的截图，便于解释 L1-L8。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31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指令管理页总览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页面作用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指令管理页用于维护可识别指令、搜索指令、启停指令、手动发送指令。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表格字段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可查看指令编号、指令内容、创建时间和当前状态。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搜索方式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支持按关键词搜索，也支持按指令编号搜索。</a:t>
            </a:r>
            <a:r>
              <a:rPr lang="zh-CN" altLang="en-US" sz="1600"/>
              <a:t>常用操作</a:t>
            </a:r>
            <a:r>
              <a:rPr lang="zh-CN" altLang="en-US" sz="1600"/>
              <a:t>编辑、删除、启用/禁用、发送、批量上传。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与主页关系</a:t>
            </a:r>
            <a:r>
              <a:rPr lang="zh-CN" altLang="en-US" sz="1600"/>
              <a:t>主页右侧显示的是识别结果；这里负责维护识别所用的指令库。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保留搜索栏、批量上传按钮和表格操作列，方便说明完整能力。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32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指令搜索、编辑与批量上传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搜索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在搜索框输入关键词或编号后点击查询，可快速缩小指令范围。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编辑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点击“编辑”可修改指令内容和编号，保存后列表会刷新。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批量上传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点击“批量上传指令”可一次粘贴多条指令，支持“编号,内容”或仅内容的格式。</a:t>
            </a:r>
            <a:r>
              <a:rPr lang="zh-CN" altLang="en-US" sz="1600"/>
              <a:t>上传规则</a:t>
            </a:r>
            <a:r>
              <a:rPr lang="zh-CN" altLang="en-US" sz="1600"/>
              <a:t>每行一条，上传成功后系统会刷新识别缓存，使新指令生效。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培训提醒</a:t>
            </a:r>
            <a:r>
              <a:rPr lang="zh-CN" altLang="en-US" sz="1600"/>
              <a:t>若识别结果长期无法命中，可先确认这里是否已存在对应指令。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最适合使用三联图：搜索、编辑、批量上传。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33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手动发送指令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" y="800735"/>
            <a:ext cx="74555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入口位置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在指令管理页每条指令右侧点击“发送”，会打开手动发送弹窗。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必填信息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项目编号、操作员账号、操作员姓名均需填写；项目编号默认可带出当前指令编号。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99940" y="3691255"/>
            <a:ext cx="4307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使用场景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150" y="1876425"/>
            <a:ext cx="3856990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适合调试转发链路、验证目标系统是否可达，或在非语音场景下手动下发命令。</a:t>
            </a:r>
            <a:r>
              <a:rPr lang="zh-CN" altLang="en-US" sz="1600"/>
              <a:t>发送结果</a:t>
            </a:r>
            <a:r>
              <a:rPr lang="zh-CN" altLang="en-US" sz="1600"/>
              <a:t>发送成功后页面会提示指令已发送和时间；失败时会显示更明确的错误信息。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培训边界</a:t>
            </a:r>
            <a:r>
              <a:rPr lang="zh-CN" altLang="en-US" sz="1600"/>
              <a:t>该功能主要给管理员或测试人员使用，普通操作员通常不需要手动发送。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截图建议</a:t>
            </a:r>
            <a:r>
              <a:rPr lang="zh-CN" altLang="en-US" sz="1600"/>
              <a:t>截图时保留待发送指令摘要和输入字段，更方便讲解。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/>
            </a:r>
            <a:r>
              <a:rPr lang="zh-CN" altLang="en-US" sz="1600"/>
              <a:t/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8315"/>
            <a:ext cx="4361180" cy="189674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slow" ns4:dur="2000" advTm="22878"/>
    </ns3:Choice>
    <ns3:Fallback>
      <p:transition spd="slow" advTm="22878"/>
    </ns3:Fallback>
  </ns3:AlternateContent>
</p:sld>
</file>

<file path=ppt/slides/slide34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操作员与管理员分工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7900" y="854075"/>
            <a:ext cx="6604000" cy="203009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普通操作员日常主要使用主页和历史说话记录，不负责维护指令库、岗位和操作员资料。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）管理员除主页外，还负责操作员管理、岗位管理、指令管理和操作事件查看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）声纹登记通常由管理员或现场维护人员协助完成，普通操作员配合朗读即可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）培训时应明确“谁负责操作、谁负责维护、谁负责排障上报”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）操作员：采集、观察结果、停止会话、查历史记录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）管理员：配置后台、维护指令、维护账号、处理异常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）角色分清后，现场流程会更顺畅，责任也更明确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ns2:AlternateContent>
    <ns2:Choice Requires="p14">
      <p:transition spd="slow" ns3:dur="2000" advTm="22878"/>
    </ns2:Choice>
    <ns2:Fallback>
      <p:transition spd="slow" advTm="22878"/>
    </ns2:Fallback>
  </ns2:AlternateContent>
</p:sld>
</file>

<file path=ppt/slides/slide35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日常维护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7900" y="854075"/>
            <a:ext cx="6604000" cy="203009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（1）每天使用前检查设备供电、麦克风、屏幕、网络是否正常，确保主页可以打开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）使用结束后停止采集并核对是否需要保存录音或导出记录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）长期不用时保持设备清洁，避免麦克风积灰、接口松动或线缆脱落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）如需长期留档，可定期整理日志和录音文件，避免只依赖现场口头记录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）维护重点：硬件状态、页面状态、网络状态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）遇到异常先截图留证，再进行排查和上报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）不要在不清楚影响的情况下随意修改后台配置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ns2:AlternateContent>
    <ns2:Choice Requires="p14">
      <p:transition spd="slow" ns3:dur="2000" advTm="22878"/>
    </ns2:Choice>
    <ns2:Fallback>
      <p:transition spd="slow" advTm="22878"/>
    </ns2:Fallback>
  </ns2:AlternateContent>
</p:sld>
</file>

<file path=ppt/slides/slide36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kumimoji="1" lang="zh-CN" altLang="en-US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常见故障与快速处理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7900" y="854075"/>
            <a:ext cx="6604000" cy="203009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（1）无法开始采集：检查浏览器麦克风权限、设备连接、是否已有其他程序占用麦克风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）页面无转写：检查是否已开始采集、是否处于静音、是否真的有有效讲话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）一直未知说话人：检查是否已登记声纹、讲话时长是否足够、环境噪声是否过大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）转发失败或未命中：先看转写文本是否正确，再看转发目标是否在线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）日志查不到记录：确认是否已停止会话，必要时按时间或关键字重新筛选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）录音未保存：确认开始采集前是否已打开“保存录音”开关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）无法解决时，记录时间、页面现象、会话信息后上报管理员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ns2:AlternateContent>
    <ns2:Choice Requires="p14">
      <p:transition spd="slow" ns3:dur="2000" advTm="22878"/>
    </ns2:Choice>
    <ns2:Fallback>
      <p:transition spd="slow" advTm="22878"/>
    </ns2:Fallback>
  </ns2:AlternateContent>
</p:sld>
</file>

<file path=ppt/slides/slide37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003" y="81000"/>
            <a:ext cx="63898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kumimoji="1" lang="en-US" alt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kumimoji="1" lang="zh-CN" b="1" dirty="0">
                <a:solidFill>
                  <a:srgbClr val="2E67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培训总结</a:t>
            </a:r>
            <a:endParaRPr kumimoji="1" lang="en-US" altLang="zh-CN" b="1" dirty="0">
              <a:solidFill>
                <a:srgbClr val="2E67C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800"/>
            <a:endParaRPr lang="en-US" altLang="zh-CN" sz="1200" b="1" dirty="0">
              <a:solidFill>
                <a:srgbClr val="3D68B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2450" y="823595"/>
            <a:ext cx="7211695" cy="3938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2667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培训完成后应掌握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开机与进入主页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：会检查设备状态并进入正确页面。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启动与停止采集：知道开始前要检查什么，结束后要查什么。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u"/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结果判断：能看懂实时转写、主说话人、指令命中和转发状态。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异常处理：遇到无转写、未知说话人、转发失败时知道先检查什么。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日志与维护</a:t>
            </a:r>
            <a:endParaRPr lang="zh-CN" altLang="en-US" sz="16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2667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：会查询历史记录、导出数据，并完成基本维护和上报。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ns2:AlternateContent>
    <ns2:Choice Requires="p14">
      <p:transition spd="slow" ns3:dur="2000" advTm="22878"/>
    </ns2:Choice>
    <ns2:Fallback>
      <p:transition spd="slow" advTm="22878"/>
    </ns2:Fallback>
  </ns2:AlternateContent>
</p:sld>
</file>

<file path=ppt/slides/slide38.xml><?xml version="1.0" encoding="utf-8"?>
<p:sld xmlns:a="http://schemas.openxmlformats.org/drawingml/2006/main" xmlns:ns3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PPT-02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-1" y="1"/>
            <a:ext cx="9235440" cy="5199553"/>
          </a:xfrm>
          <a:prstGeom prst="rect">
            <a:avLst/>
          </a:prstGeom>
        </p:spPr>
      </p:pic>
      <p:sp>
        <p:nvSpPr>
          <p:cNvPr id="9" name="标题 1"/>
          <p:cNvSpPr txBox="1"/>
          <p:nvPr/>
        </p:nvSpPr>
        <p:spPr>
          <a:xfrm>
            <a:off x="685800" y="1962945"/>
            <a:ext cx="7772400" cy="1102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 Bold"/>
              </a:rPr>
              <a:t>培训结束，按标准流程操作并按职责分工执行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 Bold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2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3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4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5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6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7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8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9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10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11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ags/tag12.xml><?xml version="1.0" encoding="utf-8"?>
<p:tagLst xmlns:p="http://schemas.openxmlformats.org/presentationml/2006/main">
  <p:tag name="KSO_WM_DIAGRAM_VIRTUALLY_FRAME" val="{&quot;height&quot;:153,&quot;left&quot;:357.00165354330704,&quot;top&quot;:164.85,&quot;width&quot;:290.779685039370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3.xml><?xml version="1.0" encoding="utf-8"?>
<ds:datastoreItem xmlns:ds="http://schemas.openxmlformats.org/officeDocument/2006/customXml" ds:itemID="{E4214858-785C-42F7-BE66-6D0E79395FC8}">
  <ds:schemaRefs/>
</ds:datastoreItem>
</file>

<file path=customXml/itemProps14.xml><?xml version="1.0" encoding="utf-8"?>
<ds:datastoreItem xmlns:ds="http://schemas.openxmlformats.org/officeDocument/2006/customXml" ds:itemID="{7B6F2769-7194-4217-93D3-3AF3A4742282}">
  <ds:schemaRefs/>
</ds:datastoreItem>
</file>

<file path=customXml/itemProps15.xml><?xml version="1.0" encoding="utf-8"?>
<ds:datastoreItem xmlns:ds="http://schemas.openxmlformats.org/officeDocument/2006/customXml" ds:itemID="{87D2A1B0-FF3E-4009-940D-AED0EB70AA2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0</TotalTime>
  <Words>1924</Words>
  <Application>WPS 演示</Application>
  <PresentationFormat>全屏显示(16:9)</PresentationFormat>
  <Paragraphs>305</Paragraphs>
  <Slides>24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1" baseType="lpstr">
      <vt:lpstr>Arial</vt:lpstr>
      <vt:lpstr>宋体</vt:lpstr>
      <vt:lpstr>Wingdings</vt:lpstr>
      <vt:lpstr>Arial</vt:lpstr>
      <vt:lpstr>微软雅黑</vt:lpstr>
      <vt:lpstr>Times New Roman</vt:lpstr>
      <vt:lpstr>等线</vt:lpstr>
      <vt:lpstr>Times New Roman</vt:lpstr>
      <vt:lpstr>Calibri</vt:lpstr>
      <vt:lpstr>Arial Unicode MS</vt:lpstr>
      <vt:lpstr>Wingdings</vt:lpstr>
      <vt:lpstr>Source Han Sans CN Bold Bold</vt:lpstr>
      <vt:lpstr>Segoe Print</vt:lpstr>
      <vt:lpstr>Source Han Sans CN Bold Bold</vt:lpstr>
      <vt:lpstr>Wonder Sans Bold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王业不偏安</cp:lastModifiedBy>
  <cp:revision>636</cp:revision>
  <dcterms:created xsi:type="dcterms:W3CDTF">2010-04-12T23:12:00Z</dcterms:created>
  <dcterms:modified xsi:type="dcterms:W3CDTF">2026-03-09T12:59:44Z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ICV">
    <vt:lpwstr>FD2D6EB3D12E4EC08B21208CFA376D86_12</vt:lpwstr>
  </property>
  <property fmtid="{D5CDD505-2E9C-101B-9397-08002B2CF9AE}" pid="4" name="KSOProductBuildVer">
    <vt:lpwstr>2052-12.1.0.25225</vt:lpwstr>
  </property>
</Properties>
</file>